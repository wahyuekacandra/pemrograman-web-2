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50" r:id="rId6"/>
    <p:sldMasterId id="2147483652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34" roundtripDataSignature="AMtx7mgBNrUpmwnD6SNJ1fEJeKdS9gs/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21CFFB-3EBE-4F21-A295-E7B291AA147A}">
  <a:tblStyle styleId="{EE21CFFB-3EBE-4F21-A295-E7B291AA147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7.xml"/><Relationship Id="rId22" Type="http://schemas.openxmlformats.org/officeDocument/2006/relationships/slide" Target="slides/slide9.xml"/><Relationship Id="rId21" Type="http://schemas.openxmlformats.org/officeDocument/2006/relationships/slide" Target="slides/slide8.xml"/><Relationship Id="rId24" Type="http://schemas.openxmlformats.org/officeDocument/2006/relationships/slide" Target="slides/slide11.xml"/><Relationship Id="rId23" Type="http://schemas.openxmlformats.org/officeDocument/2006/relationships/slide" Target="slides/slide1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26" Type="http://schemas.openxmlformats.org/officeDocument/2006/relationships/slide" Target="slides/slide13.xml"/><Relationship Id="rId25" Type="http://schemas.openxmlformats.org/officeDocument/2006/relationships/slide" Target="slides/slide12.xml"/><Relationship Id="rId28" Type="http://schemas.openxmlformats.org/officeDocument/2006/relationships/slide" Target="slides/slide15.xml"/><Relationship Id="rId27" Type="http://schemas.openxmlformats.org/officeDocument/2006/relationships/slide" Target="slides/slide1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16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18.xml"/><Relationship Id="rId30" Type="http://schemas.openxmlformats.org/officeDocument/2006/relationships/slide" Target="slides/slide17.xml"/><Relationship Id="rId11" Type="http://schemas.openxmlformats.org/officeDocument/2006/relationships/slideMaster" Target="slideMasters/slideMaster7.xml"/><Relationship Id="rId33" Type="http://schemas.openxmlformats.org/officeDocument/2006/relationships/slide" Target="slides/slide20.xml"/><Relationship Id="rId10" Type="http://schemas.openxmlformats.org/officeDocument/2006/relationships/slideMaster" Target="slideMasters/slideMaster6.xml"/><Relationship Id="rId32" Type="http://schemas.openxmlformats.org/officeDocument/2006/relationships/slide" Target="slides/slide19.xml"/><Relationship Id="rId13" Type="http://schemas.openxmlformats.org/officeDocument/2006/relationships/notesMaster" Target="notesMasters/notesMaster1.xml"/><Relationship Id="rId12" Type="http://schemas.openxmlformats.org/officeDocument/2006/relationships/slideMaster" Target="slideMasters/slideMaster8.xml"/><Relationship Id="rId34" Type="http://customschemas.google.com/relationships/presentationmetadata" Target="metadata"/><Relationship Id="rId15" Type="http://schemas.openxmlformats.org/officeDocument/2006/relationships/slide" Target="slides/slide2.xml"/><Relationship Id="rId14" Type="http://schemas.openxmlformats.org/officeDocument/2006/relationships/slide" Target="slides/slide1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19" Type="http://schemas.openxmlformats.org/officeDocument/2006/relationships/slide" Target="slides/slide6.xml"/><Relationship Id="rId18" Type="http://schemas.openxmlformats.org/officeDocument/2006/relationships/slide" Target="slides/slide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/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/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/>
          <p:nvPr/>
        </p:nvSpPr>
        <p:spPr>
          <a:xfrm>
            <a:off x="0" y="80391"/>
            <a:ext cx="12192000" cy="63304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32"/>
          <p:cNvCxnSpPr/>
          <p:nvPr/>
        </p:nvCxnSpPr>
        <p:spPr>
          <a:xfrm>
            <a:off x="0" y="683288"/>
            <a:ext cx="6189785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" name="Google Shape;45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oogle Shape;47;p33"/>
          <p:cNvCxnSpPr/>
          <p:nvPr/>
        </p:nvCxnSpPr>
        <p:spPr>
          <a:xfrm>
            <a:off x="6002215" y="683288"/>
            <a:ext cx="6189785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" name="Google Shape;48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Google Shape;50;p34"/>
          <p:cNvCxnSpPr/>
          <p:nvPr/>
        </p:nvCxnSpPr>
        <p:spPr>
          <a:xfrm>
            <a:off x="0" y="683288"/>
            <a:ext cx="121920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" name="Google Shape;51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5"/>
          <p:cNvSpPr/>
          <p:nvPr/>
        </p:nvSpPr>
        <p:spPr>
          <a:xfrm>
            <a:off x="0" y="0"/>
            <a:ext cx="12192000" cy="1085222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6"/>
          <p:cNvSpPr/>
          <p:nvPr/>
        </p:nvSpPr>
        <p:spPr>
          <a:xfrm>
            <a:off x="0" y="60292"/>
            <a:ext cx="12192000" cy="45719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0"/>
          <p:cNvSpPr txBox="1"/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1.xml"/><Relationship Id="rId7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5.pn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2.xml"/><Relationship Id="rId6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0.xml"/><Relationship Id="rId4" Type="http://schemas.openxmlformats.org/officeDocument/2006/relationships/theme" Target="../theme/theme8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1.xml"/><Relationship Id="rId5" Type="http://schemas.openxmlformats.org/officeDocument/2006/relationships/theme" Target="../theme/theme7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2.xml"/><Relationship Id="rId4" Type="http://schemas.openxmlformats.org/officeDocument/2006/relationships/theme" Target="../theme/theme1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3.xml"/><Relationship Id="rId4" Type="http://schemas.openxmlformats.org/officeDocument/2006/relationships/theme" Target="../theme/theme5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4.xml"/><Relationship Id="rId5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/>
          <p:nvPr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d-ID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7;p2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9642" y="38924"/>
            <a:ext cx="1119282" cy="108649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1"/>
          <p:cNvSpPr txBox="1"/>
          <p:nvPr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d-ID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S1 TEKNIK INFORMATIKA</a:t>
            </a:r>
            <a:br>
              <a:rPr b="0" i="0" lang="id-ID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d-ID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UNIVERSITAS PAMULANG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48352" y="0"/>
            <a:ext cx="2143648" cy="120580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/>
          <p:nvPr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7255" y="6422940"/>
            <a:ext cx="453018" cy="43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642" y="6419057"/>
            <a:ext cx="380491" cy="38049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1"/>
          <p:cNvSpPr txBox="1"/>
          <p:nvPr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d-ID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InfoTI_unpam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1"/>
          <p:cNvSpPr txBox="1"/>
          <p:nvPr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informatika.unpam.ac.id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43996" y="6412026"/>
            <a:ext cx="648362" cy="4587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3"/>
          <p:cNvSpPr txBox="1"/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" name="Google Shape;21;p23"/>
          <p:cNvSpPr/>
          <p:nvPr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2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047255" y="6422940"/>
            <a:ext cx="453018" cy="43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642" y="6419057"/>
            <a:ext cx="380491" cy="38049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3"/>
          <p:cNvSpPr txBox="1"/>
          <p:nvPr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InfoTI_unpam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3"/>
          <p:cNvSpPr txBox="1"/>
          <p:nvPr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informatika.unpam.ac.id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3996" y="6412026"/>
            <a:ext cx="648362" cy="4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31590" y="6366986"/>
            <a:ext cx="512406" cy="49739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5"/>
          <p:cNvSpPr/>
          <p:nvPr/>
        </p:nvSpPr>
        <p:spPr>
          <a:xfrm rot="-5400000">
            <a:off x="10209964" y="4875960"/>
            <a:ext cx="1884065" cy="2080010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5"/>
          <p:cNvSpPr/>
          <p:nvPr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Teknik Informatika, Universitas Pamulang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5"/>
          <p:cNvSpPr/>
          <p:nvPr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Google Shape;34;p2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099172" y="5725289"/>
            <a:ext cx="1042588" cy="1012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0581" y="5864994"/>
            <a:ext cx="1403488" cy="99300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/>
          <p:nvPr/>
        </p:nvSpPr>
        <p:spPr>
          <a:xfrm rot="-5400000">
            <a:off x="10209964" y="4875960"/>
            <a:ext cx="1884065" cy="2080010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8"/>
          <p:cNvSpPr/>
          <p:nvPr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Teknik Informatika, Universitas Pamulang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8"/>
          <p:cNvSpPr/>
          <p:nvPr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099172" y="5725289"/>
            <a:ext cx="1042588" cy="1012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0581" y="5864994"/>
            <a:ext cx="1403488" cy="99300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8"/>
          <p:cNvSpPr/>
          <p:nvPr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TERIMA KASIH, MAHASISWA TEKNIK INFORMATIKA UNGGUL, ANDA SUDAH BELAJAR DENGAN LUAR BIASA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3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657600" y="2057400"/>
            <a:ext cx="48768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0"/>
          <p:cNvSpPr/>
          <p:nvPr/>
        </p:nvSpPr>
        <p:spPr>
          <a:xfrm rot="-5400000">
            <a:off x="10209964" y="4875960"/>
            <a:ext cx="1884065" cy="2080010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0"/>
          <p:cNvSpPr/>
          <p:nvPr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Teknik Informatika, Universitas Pamulang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0"/>
          <p:cNvSpPr/>
          <p:nvPr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99172" y="5725289"/>
            <a:ext cx="1042588" cy="1012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0581" y="5864994"/>
            <a:ext cx="1403488" cy="99300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0"/>
          <p:cNvSpPr/>
          <p:nvPr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TERIMA KASIH, MAHASISWA TEKNIK INFORMATIKA UNGGUL, ANDA SUDAH BELAJAR DENGAN LUAR BIASA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7"/>
          <p:cNvSpPr/>
          <p:nvPr/>
        </p:nvSpPr>
        <p:spPr>
          <a:xfrm rot="-5400000">
            <a:off x="10209964" y="4875960"/>
            <a:ext cx="1884065" cy="2080010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7"/>
          <p:cNvSpPr/>
          <p:nvPr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Teknik Informatika, Universitas Pamulang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7"/>
          <p:cNvSpPr/>
          <p:nvPr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3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099172" y="5725289"/>
            <a:ext cx="1042588" cy="1012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0581" y="5864994"/>
            <a:ext cx="1403488" cy="99300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7"/>
          <p:cNvSpPr txBox="1"/>
          <p:nvPr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TERIMA KASIH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9"/>
          <p:cNvSpPr/>
          <p:nvPr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3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9642" y="38924"/>
            <a:ext cx="1119282" cy="108649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9"/>
          <p:cNvSpPr txBox="1"/>
          <p:nvPr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S1 TEKNIK INFORMATIKA</a:t>
            </a:r>
            <a:b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UNIVERSITAS PAMULANG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48352" y="0"/>
            <a:ext cx="2143648" cy="120580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9"/>
          <p:cNvSpPr txBox="1"/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2" name="Google Shape;92;p39"/>
          <p:cNvSpPr txBox="1"/>
          <p:nvPr>
            <p:ph idx="1" type="body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4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1"/>
          <p:cNvSpPr/>
          <p:nvPr/>
        </p:nvSpPr>
        <p:spPr>
          <a:xfrm rot="-5400000">
            <a:off x="10209964" y="4875960"/>
            <a:ext cx="1884065" cy="2080010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1"/>
          <p:cNvSpPr/>
          <p:nvPr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Teknik Informatika, Universitas Pamulang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1"/>
          <p:cNvSpPr/>
          <p:nvPr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99172" y="5725289"/>
            <a:ext cx="1042588" cy="1012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0581" y="5864994"/>
            <a:ext cx="1403488" cy="99300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/>
          <p:nvPr>
            <p:ph type="title"/>
          </p:nvPr>
        </p:nvSpPr>
        <p:spPr>
          <a:xfrm>
            <a:off x="838200" y="370299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BAB II  ELEMEN-ELEMEN  DASAR  PHP</a:t>
            </a:r>
            <a:endParaRPr/>
          </a:p>
        </p:txBody>
      </p:sp>
      <p:sp>
        <p:nvSpPr>
          <p:cNvPr id="109" name="Google Shape;109;p1"/>
          <p:cNvSpPr txBox="1"/>
          <p:nvPr/>
        </p:nvSpPr>
        <p:spPr>
          <a:xfrm>
            <a:off x="990600" y="182051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lgerian"/>
              <a:buNone/>
            </a:pPr>
            <a:r>
              <a:rPr b="1" lang="id-ID" sz="440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PEMROGRAMAN WEB 2</a:t>
            </a:r>
            <a:br>
              <a:rPr b="1" lang="id-ID" sz="440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</a:br>
            <a:endParaRPr sz="440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 txBox="1"/>
          <p:nvPr>
            <p:ph type="title"/>
          </p:nvPr>
        </p:nvSpPr>
        <p:spPr>
          <a:xfrm>
            <a:off x="990600" y="1004547"/>
            <a:ext cx="10515600" cy="5151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id-ID" sz="3600"/>
              <a:t>Operators digunakan untuk melakukan oprasi pada suatu nilai.</a:t>
            </a:r>
            <a:br>
              <a:rPr lang="id-ID" sz="3600"/>
            </a:br>
            <a:br>
              <a:rPr lang="id-ID" sz="3600"/>
            </a:br>
            <a:r>
              <a:rPr lang="id-ID" sz="3600"/>
              <a:t>1. Operator Arithmetik </a:t>
            </a:r>
            <a:br>
              <a:rPr lang="id-ID" sz="3600"/>
            </a:br>
            <a:r>
              <a:rPr lang="id-ID" sz="3600"/>
              <a:t>2. Operator Assignment </a:t>
            </a:r>
            <a:br>
              <a:rPr lang="id-ID" sz="3600"/>
            </a:br>
            <a:r>
              <a:rPr lang="id-ID" sz="3600"/>
              <a:t>3. Operator Pembanding</a:t>
            </a:r>
            <a:br>
              <a:rPr lang="id-ID" sz="3600"/>
            </a:br>
            <a:r>
              <a:rPr lang="id-ID" sz="3600"/>
              <a:t>4. Operator Logika</a:t>
            </a:r>
            <a:br>
              <a:rPr lang="id-ID" sz="3600"/>
            </a:br>
            <a:r>
              <a:rPr lang="id-ID" sz="3600"/>
              <a:t>5. Operator String</a:t>
            </a:r>
            <a:br>
              <a:rPr lang="id-ID" sz="3600"/>
            </a:br>
            <a:endParaRPr sz="3600"/>
          </a:p>
        </p:txBody>
      </p:sp>
      <p:sp>
        <p:nvSpPr>
          <p:cNvPr id="115" name="Google Shape;115;p2"/>
          <p:cNvSpPr txBox="1"/>
          <p:nvPr/>
        </p:nvSpPr>
        <p:spPr>
          <a:xfrm>
            <a:off x="838200" y="195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2.1  Operator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/>
        </p:nvSpPr>
        <p:spPr>
          <a:xfrm>
            <a:off x="990600" y="45313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 Arithmetik</a:t>
            </a:r>
            <a:r>
              <a:rPr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graphicFrame>
        <p:nvGraphicFramePr>
          <p:cNvPr id="121" name="Google Shape;121;p3"/>
          <p:cNvGraphicFramePr/>
          <p:nvPr/>
        </p:nvGraphicFramePr>
        <p:xfrm>
          <a:off x="773806" y="1821715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{EE21CFFB-3EBE-4F21-A295-E7B291AA147A}</a:tableStyleId>
              </a:tblPr>
              <a:tblGrid>
                <a:gridCol w="1577350"/>
                <a:gridCol w="4206250"/>
                <a:gridCol w="2628900"/>
                <a:gridCol w="2103125"/>
              </a:tblGrid>
              <a:tr h="438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Operator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Description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Contoh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Hasil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+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Penjumlahan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x=2 x+2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4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-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Pengurangan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x=2 5-x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3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*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Perkalian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x=4 x*5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20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/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Pembagian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15/5 5/2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3 2.5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%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Modulus (sisa pembagian)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5%2 10%8 10%2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1 2 0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++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penambahan dengan 1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x=5 x++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x=6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–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Pengurangan dengan 1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x=5 x–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x=4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/>
        </p:nvSpPr>
        <p:spPr>
          <a:xfrm>
            <a:off x="990600" y="45313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 Assignment 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7" name="Google Shape;127;p4"/>
          <p:cNvGraphicFramePr/>
          <p:nvPr/>
        </p:nvGraphicFramePr>
        <p:xfrm>
          <a:off x="990600" y="1783084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{EE21CFFB-3EBE-4F21-A295-E7B291AA147A}</a:tableStyleId>
              </a:tblPr>
              <a:tblGrid>
                <a:gridCol w="1577350"/>
                <a:gridCol w="4206250"/>
                <a:gridCol w="4732025"/>
              </a:tblGrid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Operator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Contoh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Sama dengan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=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x=y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x=y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+=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x+=y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x=x+y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-=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x-=y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x=x-y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*=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x*=y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x=x*y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/=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x/=y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x=x/y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.=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x.=y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x=x.y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%=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x%=y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x=x%y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/>
        </p:nvSpPr>
        <p:spPr>
          <a:xfrm>
            <a:off x="990600" y="45313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 Pembanding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3" name="Google Shape;133;p5"/>
          <p:cNvGraphicFramePr/>
          <p:nvPr/>
        </p:nvGraphicFramePr>
        <p:xfrm>
          <a:off x="709411" y="2000796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{EE21CFFB-3EBE-4F21-A295-E7B291AA147A}</a:tableStyleId>
              </a:tblPr>
              <a:tblGrid>
                <a:gridCol w="1577350"/>
                <a:gridCol w="4206250"/>
                <a:gridCol w="4732025"/>
              </a:tblGrid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Operator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Description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Contoh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==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sama dengan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5==8 menghasilah  false(salah)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!=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tidak sama dengan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5!=8 menghasilkan true(benar)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&gt; 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lebih besar dari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5&gt;8 menghasilkan false(salah)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&lt; 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lebih kecil dari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5&lt;8 menghasilkan true(benar)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&gt;=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besar atau sama dengan 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5&gt;=8 menghasilkan false(salah)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&lt;=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lebih kecil atau sama dengan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5&lt;=8 menghasilkan true(benar)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/>
          <p:nvPr/>
        </p:nvSpPr>
        <p:spPr>
          <a:xfrm>
            <a:off x="990600" y="45313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 Logika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9" name="Google Shape;139;p6"/>
          <p:cNvGraphicFramePr/>
          <p:nvPr/>
        </p:nvGraphicFramePr>
        <p:xfrm>
          <a:off x="632138" y="2074383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{EE21CFFB-3EBE-4F21-A295-E7B291AA147A}</a:tableStyleId>
              </a:tblPr>
              <a:tblGrid>
                <a:gridCol w="1577350"/>
                <a:gridCol w="4206250"/>
                <a:gridCol w="4732025"/>
              </a:tblGrid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Operator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Description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Contoh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&amp;&amp;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And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x=6 y=3(x &lt; 10 &amp;&amp; y &gt; 1) returns true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||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Or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x=6 y=3(x==5 || y==5) returns false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!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Not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x=6 y=3!(x==y) returns true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/>
        </p:nvSpPr>
        <p:spPr>
          <a:xfrm>
            <a:off x="990600" y="45313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 String</a:t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1120462" y="1880315"/>
            <a:ext cx="10385738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Operasi dalam string meliputi penggabungan dua buah string dan fungsi-fungsi untuk memanipulasi string.  </a:t>
            </a:r>
            <a:r>
              <a:rPr b="1" lang="id-ID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 . dan .=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/>
          <p:nvPr/>
        </p:nvSpPr>
        <p:spPr>
          <a:xfrm>
            <a:off x="990600" y="45313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2.2  Tipe Data</a:t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990600" y="1661375"/>
            <a:ext cx="10515600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Tipe data dalam PHP digunakan untuk menentukan jenis data yang akan disimpan dalam suatu variabel , PHP mempunyai empat tipe data dasar yaitu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0" i="0" lang="id-ID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0" i="0" lang="id-ID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floating point,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0" i="0" lang="id-ID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 dan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0" i="0" lang="id-ID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boolean.</a:t>
            </a:r>
            <a:endParaRPr/>
          </a:p>
          <a:p>
            <a:pPr indent="-825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25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Integer</a:t>
            </a:r>
            <a:endParaRPr b="1"/>
          </a:p>
        </p:txBody>
      </p:sp>
      <p:sp>
        <p:nvSpPr>
          <p:cNvPr id="157" name="Google Shape;157;p9"/>
          <p:cNvSpPr/>
          <p:nvPr/>
        </p:nvSpPr>
        <p:spPr>
          <a:xfrm>
            <a:off x="231821" y="1324762"/>
            <a:ext cx="10740980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merupakan tipe data yang mencakup semua bilangan bulat. Range bilangan integer adalah antara -2.147.483.647 sampai dengan 2.147.483.647.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Contoh integer: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$biaya = 1000;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$a = 1234;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$a = -123;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Floating point</a:t>
            </a:r>
            <a:r>
              <a:rPr lang="id-ID"/>
              <a:t> </a:t>
            </a:r>
            <a:endParaRPr b="1"/>
          </a:p>
        </p:txBody>
      </p:sp>
      <p:sp>
        <p:nvSpPr>
          <p:cNvPr id="163" name="Google Shape;163;p10"/>
          <p:cNvSpPr/>
          <p:nvPr/>
        </p:nvSpPr>
        <p:spPr>
          <a:xfrm>
            <a:off x="231821" y="1324762"/>
            <a:ext cx="10740980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Floating point</a:t>
            </a: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merupakan tipe data yang mencakup semua bilangan desimal (bilangan yang memiliki angka di belakang koma). Range bilangan floating point antara 1e-308 sampai dengan 1e308 ( 10-308 s.d. 10308).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Contoh floating point: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$a = 2.345;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$a = 3.2e4;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Character</a:t>
            </a:r>
            <a:endParaRPr b="1"/>
          </a:p>
        </p:txBody>
      </p:sp>
      <p:sp>
        <p:nvSpPr>
          <p:cNvPr id="169" name="Google Shape;169;p11"/>
          <p:cNvSpPr/>
          <p:nvPr/>
        </p:nvSpPr>
        <p:spPr>
          <a:xfrm>
            <a:off x="231821" y="1324762"/>
            <a:ext cx="10740980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</a:t>
            </a: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merupakan tipe yang digunakan untuk menyimpan data-data yang berupa karakter (satu huruf). Penulisannya biasanya diapit dengan tanda kutip satu (‘…’).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Contoh character: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$abjad = ‘e’;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$abjad = ‘n’;</a:t>
            </a:r>
            <a:endParaRPr/>
          </a:p>
        </p:txBody>
      </p:sp>
      <p:sp>
        <p:nvSpPr>
          <p:cNvPr id="170" name="Google Shape;170;p11"/>
          <p:cNvSpPr/>
          <p:nvPr/>
        </p:nvSpPr>
        <p:spPr>
          <a:xfrm>
            <a:off x="4851060" y="3881744"/>
            <a:ext cx="6096000" cy="2246769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Jika karakter-karakter berkumpul membentuk suatu kata, kalimat atau paragraf maka tipe tadi tidak bisa lagi disebut sebagai character tapi bertipe string.</a:t>
            </a:r>
            <a:endParaRPr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Boolean</a:t>
            </a:r>
            <a:endParaRPr b="1"/>
          </a:p>
        </p:txBody>
      </p:sp>
      <p:sp>
        <p:nvSpPr>
          <p:cNvPr id="176" name="Google Shape;176;p12"/>
          <p:cNvSpPr/>
          <p:nvPr/>
        </p:nvSpPr>
        <p:spPr>
          <a:xfrm>
            <a:off x="231821" y="2290687"/>
            <a:ext cx="107409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Boleean menyimpan data –data yang bernilai logika, benar atau salah, 0 atau 1, ya atau tidak 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Latihan 1.</a:t>
            </a:r>
            <a:endParaRPr/>
          </a:p>
        </p:txBody>
      </p:sp>
      <p:sp>
        <p:nvSpPr>
          <p:cNvPr id="182" name="Google Shape;182;p13"/>
          <p:cNvSpPr/>
          <p:nvPr/>
        </p:nvSpPr>
        <p:spPr>
          <a:xfrm>
            <a:off x="1004561" y="1376278"/>
            <a:ext cx="10740980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&lt;?php 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$a = 1;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$b = 2;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$c = $a.$b;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//nilai $c sekarang 12, menggabungkan angka 1 dan 2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$d= $c + 1 ;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 $d; 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nilai $d 13, 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$e = "Number";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$f = $e.$d;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 $f;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//nilai $f menjadi Number13, a kombinasi $e dan $f 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?&gt;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"/>
          <p:cNvSpPr txBox="1"/>
          <p:nvPr>
            <p:ph type="title"/>
          </p:nvPr>
        </p:nvSpPr>
        <p:spPr>
          <a:xfrm>
            <a:off x="838200" y="-21443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Latihan 2 :</a:t>
            </a:r>
            <a:endParaRPr/>
          </a:p>
        </p:txBody>
      </p:sp>
      <p:sp>
        <p:nvSpPr>
          <p:cNvPr id="188" name="Google Shape;188;p14"/>
          <p:cNvSpPr/>
          <p:nvPr/>
        </p:nvSpPr>
        <p:spPr>
          <a:xfrm>
            <a:off x="772739" y="629296"/>
            <a:ext cx="4713659" cy="5940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&lt;?php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inisiasi variable yang digunakan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nama peralatan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$brg1 = "Buku";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$brg2 = "Mouse";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$brg3 = "FlashDisk";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$brg4 = "Pulpen";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harga per unit peralatan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$harga1 = 17500;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$harga2 = 30000; $harga3 = 70000;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$harga4 = 22300;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jumlah peralatan yang ada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$jmlbrg1 = 2;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$jmlbrg2 = 5;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$jmlbrg3 = 1;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$jmlbrg4 = 3;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5636679" y="751344"/>
            <a:ext cx="6096000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total harga per jenis peralatan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$th1 = $jmlbrg1 * $harga1;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$th2 = $jmlbrg2 * $harga2;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$th3 = $jmlbrg3 * $harga3;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$th4 = $jmlbrg4 * $harga4;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hitung grand total nilai peralatan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$tharga = $th1 + $th2+ $th3 + $th4;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besar diskon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$diskon = 5;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jumlah total diskon yang diberikan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$tdiskon = ($diskon * $tharga)/100;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jumlah yang harus dibayar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$tdibayar = $tharga - $tdiskon;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?&gt;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 txBox="1"/>
          <p:nvPr>
            <p:ph type="title"/>
          </p:nvPr>
        </p:nvSpPr>
        <p:spPr>
          <a:xfrm>
            <a:off x="838200" y="-21443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Lanjutan Latihan 2 :</a:t>
            </a:r>
            <a:endParaRPr/>
          </a:p>
        </p:txBody>
      </p:sp>
      <p:sp>
        <p:nvSpPr>
          <p:cNvPr id="195" name="Google Shape;195;p15"/>
          <p:cNvSpPr/>
          <p:nvPr/>
        </p:nvSpPr>
        <p:spPr>
          <a:xfrm>
            <a:off x="772739" y="552022"/>
            <a:ext cx="4713659" cy="5940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&lt;html&gt;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&lt;head&gt;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&lt;title&gt;Daftar Peralatan Yang Dibeli&lt;/title&gt;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&lt;/head&gt;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&lt;style TYPE="text/css"&gt;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body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font-size: 14pt;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table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font-size: 25pt;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&lt;/style&gt;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&lt;body&gt;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&lt;center&gt;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&lt;font face="comic sans serif" size=5 color= "blue"&gt;Contoh Perhitungan dengan PHP&lt;/font&gt;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&lt;table border="1" cellspacing="0" cellpadding="3"&gt; </a:t>
            </a: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5636679" y="1305141"/>
            <a:ext cx="609600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&lt;tr&gt;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 colspan="4" align="center" valign="middle"&gt;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&lt;b&gt;Daftar Pemesanan Peralatan Kantor&lt;/b&gt;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&lt;/tr&gt;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&lt;tr&gt;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&lt;td&gt;&lt;b&gt;Nama Peralatan&lt;/b&gt;&lt;/td&gt;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&lt;td&gt;&lt;b&gt;Jumlah&lt;/b&gt;&lt;/td&gt;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&lt;td&gt;&lt;b&gt;Harga Satuan&lt;/b&gt;&lt;/td&gt;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&lt;td&gt;&lt;b&gt;Jumlah Harga&lt;/b&gt;&lt;/td&gt;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&lt;/tr&gt;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&lt;?php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"/>
          <p:cNvSpPr txBox="1"/>
          <p:nvPr>
            <p:ph type="title"/>
          </p:nvPr>
        </p:nvSpPr>
        <p:spPr>
          <a:xfrm>
            <a:off x="838200" y="-21443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Lanjutan Latihan 2 :</a:t>
            </a:r>
            <a:endParaRPr/>
          </a:p>
        </p:txBody>
      </p:sp>
      <p:sp>
        <p:nvSpPr>
          <p:cNvPr id="202" name="Google Shape;202;p16"/>
          <p:cNvSpPr/>
          <p:nvPr/>
        </p:nvSpPr>
        <p:spPr>
          <a:xfrm>
            <a:off x="772739" y="552022"/>
            <a:ext cx="4713659" cy="5940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Mulai untuk mengisi tabel daftar dengan data yang ada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&lt;tr&gt;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 align="left"&gt;&lt;?php echo $brg1; ?&gt;&lt;/td&gt;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 align="right"&gt;&lt;?php echo $jmlbrg1; ?&gt;&lt;/td&gt;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 align="right"&gt;&lt;?php echo $harga1; ?&gt;&lt;/td&gt;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 align="right"&gt;&lt;?php echo $th1; ?&gt;&lt;/td&gt;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&lt;/tr&gt;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&lt;tr&gt;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 align="left"&gt;&lt;?php echo $brg2; ?&gt;&lt;/td&gt;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 align="right"&gt;&lt;?php echo $jmlbrg2; ?&gt;&lt;/td&gt;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 align="right"&gt;&lt;?php echo $harga2; ?&gt;&lt;/td&gt;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 align="right"&gt;&lt;?php echo $th2; ?&gt;&lt;/td&gt;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&lt;/tr&gt; </a:t>
            </a:r>
            <a:endParaRPr/>
          </a:p>
        </p:txBody>
      </p:sp>
      <p:sp>
        <p:nvSpPr>
          <p:cNvPr id="203" name="Google Shape;203;p16"/>
          <p:cNvSpPr/>
          <p:nvPr/>
        </p:nvSpPr>
        <p:spPr>
          <a:xfrm>
            <a:off x="5636679" y="1305141"/>
            <a:ext cx="6096000" cy="409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&lt;tr&gt;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 align="left"&gt;&lt;?php echo $brg3; ?&gt;&lt;/td&gt;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 align="right"&gt;&lt;?php echo $jmlbrg3; ?&gt;&lt;/td&gt;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 align="right"&gt;&lt;?php echo $harga3; ?&gt;&lt;/td&gt;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 align="right"&gt;&lt;?php echo $th3; ?&gt;&lt;/td&gt;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&lt;/tr&gt;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&lt;tr&gt;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 align="left"&gt;&lt;?php echo $brg4; ?&gt;&lt;/td&gt;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 align="right"&gt;&lt;?php echo $jmlbrg4; ?&gt;&lt;/td&gt;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 align="right"&gt;&lt;?php echo $harga4; ?&gt;&lt;/td&gt;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 align="right"&gt;&lt;?php echo $th4; ?&gt;&lt;/td&gt;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&lt;/tr&gt;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&lt;tr&gt;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"/>
          <p:cNvSpPr txBox="1"/>
          <p:nvPr>
            <p:ph type="title"/>
          </p:nvPr>
        </p:nvSpPr>
        <p:spPr>
          <a:xfrm>
            <a:off x="838200" y="-21443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Lanjutan Latihan 2 :</a:t>
            </a:r>
            <a:endParaRPr/>
          </a:p>
        </p:txBody>
      </p:sp>
      <p:sp>
        <p:nvSpPr>
          <p:cNvPr id="209" name="Google Shape;209;p17"/>
          <p:cNvSpPr/>
          <p:nvPr/>
        </p:nvSpPr>
        <p:spPr>
          <a:xfrm>
            <a:off x="1476803" y="1021805"/>
            <a:ext cx="6096000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 colspan="3" align="right"&gt;Total Harga&lt;/td&gt;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 align="right"&gt;&lt;?php echo $tharga; ?&gt;&lt;/td&gt;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&lt;/tr&gt;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&lt;tr&gt;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 colspan="3" align="right"&gt;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Diskon &lt;?php echo "( $diskon % )"; ?&gt;&lt;/td&gt;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 align="right"&gt;&lt;?php echo $tdiskon; ?&gt;&lt;/td&gt;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&lt;/tr&gt;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&lt;tr&gt;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 colspan="3" align="right"&gt;Jumlah harus dibayar&lt;/td&gt;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 align="right"&gt;&lt;?php echo $tdibayar; ?&gt;&lt;/td&gt;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&lt;/tr&gt;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&lt;/table&gt;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&lt;/center&gt;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&lt;/body&gt;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&lt;/html&gt;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/>
          <p:cNvSpPr txBox="1"/>
          <p:nvPr>
            <p:ph type="title"/>
          </p:nvPr>
        </p:nvSpPr>
        <p:spPr>
          <a:xfrm>
            <a:off x="838200" y="-21443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d-ID"/>
              <a:t>Latihan 3.</a:t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1476803" y="1021805"/>
            <a:ext cx="60960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Buatlah tampilan dibawah ini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18"/>
          <p:cNvPicPr preferRelativeResize="0"/>
          <p:nvPr/>
        </p:nvPicPr>
        <p:blipFill rotWithShape="1">
          <a:blip r:embed="rId3">
            <a:alphaModFix/>
          </a:blip>
          <a:srcRect b="27945" l="23242" r="22916" t="39394"/>
          <a:stretch/>
        </p:blipFill>
        <p:spPr>
          <a:xfrm>
            <a:off x="2485624" y="1774457"/>
            <a:ext cx="5708734" cy="224374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8"/>
          <p:cNvSpPr/>
          <p:nvPr/>
        </p:nvSpPr>
        <p:spPr>
          <a:xfrm>
            <a:off x="953037" y="4306751"/>
            <a:ext cx="1027734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Lakukanlah perhitungan dan tampilkan hasilnya dibawahnya  masih dihalaman yang sama, boleh juga dikembangkan tampilkan di halaman baru.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 txBox="1"/>
          <p:nvPr>
            <p:ph type="title"/>
          </p:nvPr>
        </p:nvSpPr>
        <p:spPr>
          <a:xfrm>
            <a:off x="1023135" y="7658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4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6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7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5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3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2021-08-16T10:58:02Z</dcterms:created>
  <dc:creator>lisda masitoh</dc:creator>
</cp:coreProperties>
</file>